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4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A4A"/>
                </a:solidFill>
                <a:latin typeface="Arial"/>
              </a:rPr>
              <a:t>21 composants évalués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État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9E6E"/>
              </a:solidFill>
              <a:effectLst/>
            </c:spPr>
          </c:dPt>
          <c:dPt>
            <c:idx val="1"/>
            <c:bubble3D val="0"/>
            <c:spPr>
              <a:solidFill>
                <a:srgbClr val="D9A441"/>
              </a:solidFill>
              <a:effectLst/>
            </c:spPr>
          </c:dPt>
          <c:dPt>
            <c:idx val="2"/>
            <c:bubble3D val="0"/>
            <c:spPr>
              <a:solidFill>
                <a:srgbClr val="E85D4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Vérifié</c:v>
                </c:pt>
                <c:pt idx="1">
                  <c:v>Partiel</c:v>
                </c:pt>
                <c:pt idx="2">
                  <c:v>Non vérifié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</c:v>
                </c:pt>
                <c:pt idx="1">
                  <c:v>8</c:v>
                </c:pt>
                <c:pt idx="2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02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41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120640"/>
            <a:ext cx="2377440" cy="2377440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394960"/>
            <a:ext cx="2743200" cy="2743200"/>
          </a:xfrm>
          <a:prstGeom prst="ellipse">
            <a:avLst/>
          </a:prstGeom>
          <a:solidFill>
            <a:srgbClr val="141D33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40080"/>
            <a:ext cx="822960" cy="8229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6" name="Image 0" descr="/home/claude/pptx/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66" y="82524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7830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BIG DATA &amp; ARTIFICIAL INTELLIGENCE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121408"/>
            <a:ext cx="10424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Multi-Agent pour l'Optimisation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Stockage et du Traitement des EEG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Néonataux dans les USIN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: Technologies de Stockage Big Data — Université Ibn Tofail, Faculté des Sciences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617720"/>
            <a:ext cx="4754880" cy="0"/>
          </a:xfrm>
          <a:prstGeom prst="line">
            <a:avLst/>
          </a:prstGeom>
          <a:noFill/>
          <a:ln w="19050">
            <a:solidFill>
              <a:srgbClr val="0F6E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pPr indent="0" marL="0">
              <a:buNone/>
            </a:pPr>
            <a:r>
              <a:rPr lang="en-US" sz="13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Nouar · Souhail El Bettachi · Mohamed Bakkouri · Youssef Benayad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51937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pPr indent="0" marL="0">
              <a:buNone/>
            </a:pPr>
            <a:r>
              <a:rPr lang="en-US" sz="13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Ayoub Sghir · Pr. Manar Sais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920240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6" name="Image 0" descr="/home/claude/pptx/icons/hospi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63" y="205397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96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&amp; problématique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194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néonatal et enjeux Big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944368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3172968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1" name="Image 1" descr="/home/claude/pptx/icons/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63" y="3306699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0723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Objectifs &amp; besoins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6304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Fonctionnels et techniques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97096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4425696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6" name="Image 2" descr="/home/claude/pptx/icons/diagra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" y="4559427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3251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Architecture globale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47000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d'ensemble du système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449824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5678424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1" name="Image 3" descr="/home/claude/pptx/icon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63" y="5812155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5577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Système multi-agent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63040" y="59527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Acquisition, Analyse, Décision, Archivage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217920" y="1691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6382512" y="1920240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26" name="Image 4" descr="/home/claude/pptx/icons/exchan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243" y="2053971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32320" y="181965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Kafka &amp; streaming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132320" y="2194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et flux de messages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2944368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30" name="Shape 23"/>
          <p:cNvSpPr/>
          <p:nvPr/>
        </p:nvSpPr>
        <p:spPr>
          <a:xfrm>
            <a:off x="6382512" y="3172968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1" name="Image 5" descr="/home/claude/pptx/icons/databas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243" y="3306699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30723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Persistance polyglotte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132320" y="34472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Redis, MongoDB, MinIO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217920" y="4197096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35" name="Shape 27"/>
          <p:cNvSpPr/>
          <p:nvPr/>
        </p:nvSpPr>
        <p:spPr>
          <a:xfrm>
            <a:off x="6382512" y="4425696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36" name="Image 6" descr="/home/claude/pptx/icons/docker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6243" y="4559427"/>
            <a:ext cx="326898" cy="32689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132320" y="43251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Infrastructure Docker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7132320" y="47000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et orchestration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217920" y="5449824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40" name="Shape 31"/>
          <p:cNvSpPr/>
          <p:nvPr/>
        </p:nvSpPr>
        <p:spPr>
          <a:xfrm>
            <a:off x="6382512" y="5678424"/>
            <a:ext cx="594360" cy="5943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41" name="Image 7" descr="/home/claude/pptx/icons/char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6243" y="5812155"/>
            <a:ext cx="326898" cy="32689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32320" y="5577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État d'avancement &amp; perspectives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7132320" y="595274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honnête et pistes d'évolution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L'EEG néonatal en soins intensifs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les unités de soins intensifs néonatals (USIN), l'électroencéphalographie continue (cEEG) permet de surveiller en temps réel l'activité cérébrale de nouveau-nés à risque (asphyxie périnatale, prématurité extrême).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surveillance continue, multi-canal et prolongée génère un flux de données considérable — un défi typique de traitement Big Data appliqué à la santé.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128016" cy="128016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0448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précoce — </a:t>
            </a:r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crises électro-cliniques chez le nouveau-né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28016" cy="128016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40740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continue — </a:t>
            </a:r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plusieurs jours, multi-canal, par patient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28016" cy="128016"/>
          </a:xfrm>
          <a:prstGeom prst="ellipse">
            <a:avLst/>
          </a:prstGeom>
          <a:solidFill>
            <a:srgbClr val="0F6E8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91032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croissant — </a:t>
            </a:r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nombre de patients suivis simultanément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86600" y="1691640"/>
            <a:ext cx="4526280" cy="4206240"/>
          </a:xfrm>
          <a:prstGeom prst="roundRect">
            <a:avLst>
              <a:gd name="adj" fmla="val 2174"/>
            </a:avLst>
          </a:prstGeom>
          <a:solidFill>
            <a:srgbClr val="1E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8915400" y="2057400"/>
            <a:ext cx="868680" cy="86868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14" name="Image 0" descr="/home/claude/pptx/icons/hospi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0853" y="2252853"/>
            <a:ext cx="477774" cy="47777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06640" y="3063240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Unité de Soins Intensifs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Néonatals (USIN)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89520" y="3794760"/>
            <a:ext cx="3520440" cy="0"/>
          </a:xfrm>
          <a:prstGeom prst="line">
            <a:avLst/>
          </a:prstGeom>
          <a:noFill/>
          <a:ln w="12700">
            <a:solidFill>
              <a:srgbClr val="3FA7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06640" y="39776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cEEG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406640" y="43251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continue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406640" y="463600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06640" y="49834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ininterrompue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406640" y="529437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Multi-patients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406640" y="56418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cumulée en USIN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donnée EEG : volumineuse, rapide, hétérogène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2103120"/>
            <a:ext cx="914400" cy="9144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6" name="Image 0" descr="/home/claude/pptx/icons/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23088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EEG continus, multi-canal, cumulés sur plusieurs jours et plusieurs patients.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103120"/>
            <a:ext cx="914400" cy="914400"/>
          </a:xfrm>
          <a:prstGeom prst="ellipse">
            <a:avLst/>
          </a:prstGeom>
          <a:solidFill>
            <a:srgbClr val="E85D4B"/>
          </a:solidFill>
          <a:ln/>
        </p:spPr>
      </p:sp>
      <p:pic>
        <p:nvPicPr>
          <p:cNvPr id="11" name="Image 1" descr="/home/claude/pptx/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3088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8912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Vélocité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63440" y="37033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quasi temps réel requis pour détecter précocement les anomalies critiques.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5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9532620" y="2103120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6" name="Image 2" descr="/home/claude/pptx/icons/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23088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32004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Variété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503920" y="370332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bruts, métadonnées, résultats d'analyse et alertes : des structures hétérogènes.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technologie de stockage ne peut répondre efficacement à ces trois contraintes simultanément → persistance polyglotte.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fonctionnels et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6" name="Image 0" descr="/home/claude/pptx/icons/clipbo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fonctionnels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l'acquisition des données EEG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Transmettre les flux en quasi temps réel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les signaux et détecter les anomalies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les données selon leur criticité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dynamiquement la stratégie de stockage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Archiver les données anciennes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et consulter via une API/dashboard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1E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920240"/>
            <a:ext cx="548640" cy="548640"/>
          </a:xfrm>
          <a:prstGeom prst="ellipse">
            <a:avLst/>
          </a:prstGeom>
          <a:solidFill>
            <a:srgbClr val="3FA7C7"/>
          </a:solidFill>
          <a:ln/>
        </p:spPr>
      </p:sp>
      <p:pic>
        <p:nvPicPr>
          <p:cNvPr id="11" name="Image 1" descr="/home/claude/pptx/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20436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99339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techniques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comme bus de messages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Python asynchrone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pour les données critiques (cache)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pour les métadonnées EEG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pour l'archivage objet (S3)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backend en FastAPI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complète avec Docker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globale du système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F6E8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37744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71508" y="2848356"/>
            <a:ext cx="202338" cy="201168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7" name="Shape 5"/>
          <p:cNvSpPr/>
          <p:nvPr/>
        </p:nvSpPr>
        <p:spPr>
          <a:xfrm>
            <a:off x="2830754" y="2377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1E2A4A"/>
          </a:solidFill>
          <a:ln/>
        </p:spPr>
      </p:sp>
      <p:sp>
        <p:nvSpPr>
          <p:cNvPr id="8" name="Text 6"/>
          <p:cNvSpPr/>
          <p:nvPr/>
        </p:nvSpPr>
        <p:spPr>
          <a:xfrm>
            <a:off x="2876474" y="237744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53621" y="2848356"/>
            <a:ext cx="202338" cy="201168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10" name="Shape 8"/>
          <p:cNvSpPr/>
          <p:nvPr/>
        </p:nvSpPr>
        <p:spPr>
          <a:xfrm>
            <a:off x="5112868" y="2377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E85D4B"/>
          </a:solidFill>
          <a:ln/>
        </p:spPr>
      </p:sp>
      <p:sp>
        <p:nvSpPr>
          <p:cNvPr id="11" name="Text 9"/>
          <p:cNvSpPr/>
          <p:nvPr/>
        </p:nvSpPr>
        <p:spPr>
          <a:xfrm>
            <a:off x="5158588" y="237744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(Acq.→Analyse→Décision)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5735" y="2848356"/>
            <a:ext cx="202338" cy="201168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13" name="Shape 11"/>
          <p:cNvSpPr/>
          <p:nvPr/>
        </p:nvSpPr>
        <p:spPr>
          <a:xfrm>
            <a:off x="7394981" y="2377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440701" y="237744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polyglotte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Redis·Mongo·MinIO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417849" y="2848356"/>
            <a:ext cx="202338" cy="201168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16" name="Shape 14"/>
          <p:cNvSpPr/>
          <p:nvPr/>
        </p:nvSpPr>
        <p:spPr>
          <a:xfrm>
            <a:off x="9677095" y="237744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0F6E8C"/>
          </a:solidFill>
          <a:ln/>
        </p:spPr>
      </p:sp>
      <p:sp>
        <p:nvSpPr>
          <p:cNvPr id="17" name="Text 15"/>
          <p:cNvSpPr/>
          <p:nvPr/>
        </p:nvSpPr>
        <p:spPr>
          <a:xfrm>
            <a:off x="9722815" y="237744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3886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 cohérente entre le README du projet et la configuration Docker Compose (9 services orchestrés).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vérification de cette architecture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956048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Vérifié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Docker : Kafka, Zookeeper, MongoDB, Redis, MinIO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507492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4956048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backend référencés dans Docker, code non audité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46720" y="5074920"/>
            <a:ext cx="146304" cy="146304"/>
          </a:xfrm>
          <a:prstGeom prst="ellipse">
            <a:avLst/>
          </a:prstGeom>
          <a:solidFill>
            <a:srgbClr val="E85D4B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956048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vérifié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 : aucun code source transmis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système multi-agent : 4 agents Python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F6E8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2651760" cy="18288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922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40180" y="2377440"/>
            <a:ext cx="868680" cy="86868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9" name="Image 0" descr="/home/claude/pptx/icons/exchan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633" y="2572893"/>
            <a:ext cx="477774" cy="4777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383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3840480"/>
            <a:ext cx="224942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Réceptionne les données EEG (simulateur) et les publie sur Kafka (topic eeg-raw).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5303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 — module référencé, code non audité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29000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5F7FA"/>
          </a:solidFill>
          <a:ln/>
        </p:spPr>
      </p:sp>
      <p:sp>
        <p:nvSpPr>
          <p:cNvPr id="14" name="Shape 11"/>
          <p:cNvSpPr/>
          <p:nvPr/>
        </p:nvSpPr>
        <p:spPr>
          <a:xfrm>
            <a:off x="3429000" y="173736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E85D4B"/>
          </a:solidFill>
          <a:ln/>
        </p:spPr>
      </p:sp>
      <p:sp>
        <p:nvSpPr>
          <p:cNvPr id="15" name="Shape 12"/>
          <p:cNvSpPr/>
          <p:nvPr/>
        </p:nvSpPr>
        <p:spPr>
          <a:xfrm>
            <a:off x="3429000" y="2057400"/>
            <a:ext cx="2651760" cy="182880"/>
          </a:xfrm>
          <a:prstGeom prst="rect">
            <a:avLst/>
          </a:prstGeom>
          <a:solidFill>
            <a:srgbClr val="E85D4B"/>
          </a:solidFill>
          <a:ln/>
        </p:spPr>
      </p:sp>
      <p:sp>
        <p:nvSpPr>
          <p:cNvPr id="16" name="Text 13"/>
          <p:cNvSpPr/>
          <p:nvPr/>
        </p:nvSpPr>
        <p:spPr>
          <a:xfrm>
            <a:off x="3566160" y="17922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320540" y="2377440"/>
            <a:ext cx="868680" cy="868680"/>
          </a:xfrm>
          <a:prstGeom prst="ellipse">
            <a:avLst/>
          </a:prstGeom>
          <a:solidFill>
            <a:srgbClr val="E85D4B"/>
          </a:solidFill>
          <a:ln/>
        </p:spPr>
      </p:sp>
      <p:pic>
        <p:nvPicPr>
          <p:cNvPr id="18" name="Image 1" descr="/home/claude/pptx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993" y="2572893"/>
            <a:ext cx="477774" cy="47777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29000" y="3383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630168" y="3840480"/>
            <a:ext cx="224942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 eeg-raw, détecte les anomalies et calcule un niveau de priorité.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3520440" y="5303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 — module référencé, code non audité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309360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5F7FA"/>
          </a:solidFill>
          <a:ln/>
        </p:spPr>
      </p:sp>
      <p:sp>
        <p:nvSpPr>
          <p:cNvPr id="23" name="Shape 19"/>
          <p:cNvSpPr/>
          <p:nvPr/>
        </p:nvSpPr>
        <p:spPr>
          <a:xfrm>
            <a:off x="6309360" y="173736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D9A441"/>
          </a:solidFill>
          <a:ln/>
        </p:spPr>
      </p:sp>
      <p:sp>
        <p:nvSpPr>
          <p:cNvPr id="24" name="Shape 20"/>
          <p:cNvSpPr/>
          <p:nvPr/>
        </p:nvSpPr>
        <p:spPr>
          <a:xfrm>
            <a:off x="6309360" y="2057400"/>
            <a:ext cx="2651760" cy="18288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5" name="Text 21"/>
          <p:cNvSpPr/>
          <p:nvPr/>
        </p:nvSpPr>
        <p:spPr>
          <a:xfrm>
            <a:off x="6446520" y="17922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7200900" y="2377440"/>
            <a:ext cx="868680" cy="86868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7" name="Image 2" descr="/home/claude/pptx/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353" y="2572893"/>
            <a:ext cx="477774" cy="47777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09360" y="3383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510528" y="3840480"/>
            <a:ext cx="224942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 la politique de stockage polyglotte selon la priorité calculée.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400800" y="5303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 — module référencé, code non audité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189720" y="173736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F5F7FA"/>
          </a:solidFill>
          <a:ln/>
        </p:spPr>
      </p:sp>
      <p:sp>
        <p:nvSpPr>
          <p:cNvPr id="32" name="Shape 27"/>
          <p:cNvSpPr/>
          <p:nvPr/>
        </p:nvSpPr>
        <p:spPr>
          <a:xfrm>
            <a:off x="9189720" y="173736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3FA7C7"/>
          </a:solidFill>
          <a:ln/>
        </p:spPr>
      </p:sp>
      <p:sp>
        <p:nvSpPr>
          <p:cNvPr id="33" name="Shape 28"/>
          <p:cNvSpPr/>
          <p:nvPr/>
        </p:nvSpPr>
        <p:spPr>
          <a:xfrm>
            <a:off x="9189720" y="2057400"/>
            <a:ext cx="2651760" cy="182880"/>
          </a:xfrm>
          <a:prstGeom prst="rect">
            <a:avLst/>
          </a:prstGeom>
          <a:solidFill>
            <a:srgbClr val="3FA7C7"/>
          </a:solidFill>
          <a:ln/>
        </p:spPr>
      </p:sp>
      <p:sp>
        <p:nvSpPr>
          <p:cNvPr id="34" name="Text 29"/>
          <p:cNvSpPr/>
          <p:nvPr/>
        </p:nvSpPr>
        <p:spPr>
          <a:xfrm>
            <a:off x="9326880" y="17922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Shape 30"/>
          <p:cNvSpPr/>
          <p:nvPr/>
        </p:nvSpPr>
        <p:spPr>
          <a:xfrm>
            <a:off x="10081260" y="2377440"/>
            <a:ext cx="868680" cy="868680"/>
          </a:xfrm>
          <a:prstGeom prst="ellipse">
            <a:avLst/>
          </a:prstGeom>
          <a:solidFill>
            <a:srgbClr val="3FA7C7"/>
          </a:solidFill>
          <a:ln/>
        </p:spPr>
      </p:sp>
      <p:pic>
        <p:nvPicPr>
          <p:cNvPr id="36" name="Image 3" descr="/home/claude/pptx/icons/archi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6713" y="2572893"/>
            <a:ext cx="477774" cy="47777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189720" y="33832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Archivage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9390888" y="3840480"/>
            <a:ext cx="224942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 les données de plus de 24h vers MinIO pour conservation longue durée.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9281160" y="5303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 — module référencé, code non audité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ASYNCHRONE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Kafka : le bus de messages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découple les agents : chaque producteur publie sans attendre le traitement des consommateurs, ce qui garantit la scalabilité et la résilience de la chaîne de traitement EEG.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194560" cy="4572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23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2423160"/>
            <a:ext cx="2834640" cy="4572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2423160"/>
            <a:ext cx="2834640" cy="4572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Consommateur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0" y="2423160"/>
            <a:ext cx="3200400" cy="4572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24231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2194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80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eeg-raw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0" y="288036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/ Acquisition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77840" y="288036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Analyse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0" y="2880360"/>
            <a:ext cx="3200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8803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EEG brut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2194560" cy="5029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83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eeg-priority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0" y="3383280"/>
            <a:ext cx="2834640" cy="5029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3383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Analyse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77840" y="3383280"/>
            <a:ext cx="2834640" cy="5029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3383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Décision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12480" y="3383280"/>
            <a:ext cx="3200400" cy="5029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33832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d'analyse + priorité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886200"/>
            <a:ext cx="21945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eeg-alerts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0" y="388620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3886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Analyse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577840" y="3886200"/>
            <a:ext cx="2834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3886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Backend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412480" y="3886200"/>
            <a:ext cx="32004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cliniques critiques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A4A"/>
          </a:solidFill>
          <a:ln/>
        </p:spPr>
      </p:sp>
      <p:sp>
        <p:nvSpPr>
          <p:cNvPr id="38" name="Shape 36"/>
          <p:cNvSpPr/>
          <p:nvPr/>
        </p:nvSpPr>
        <p:spPr>
          <a:xfrm>
            <a:off x="777240" y="5120640"/>
            <a:ext cx="640080" cy="640080"/>
          </a:xfrm>
          <a:prstGeom prst="ellipse">
            <a:avLst/>
          </a:prstGeom>
          <a:solidFill>
            <a:srgbClr val="2E9E6E"/>
          </a:solidFill>
          <a:ln/>
        </p:spPr>
      </p:sp>
      <p:pic>
        <p:nvPicPr>
          <p:cNvPr id="39" name="Image 0" descr="/home/claude/pptx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5264658"/>
            <a:ext cx="352044" cy="352044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600200" y="502920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 vérifié 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services Kafka (confluentinc/cp-kafka:7.5.0) et Zookeeper sont configurés et cohérents dans docker-compose.yml. La création effective des topics et la circulation réelle des messages restent à valider par exécution.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ADAPTÉ À LA DONNÉE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Persistance polyglotte : Redis · MongoDB · MinIO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6" name="Image 0" descr="/home/claude/pptx/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4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3042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en mémoire, latence ~ms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critiques nécessitant un accès immédiat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5F7FA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1965960"/>
            <a:ext cx="685800" cy="68580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2" name="Image 1" descr="/home/claude/pptx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025" y="212026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40680" y="23042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documentaire NoSQL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17720" y="27889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 EEG semi-structurées, flexibles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0" y="1737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8458200" y="1965960"/>
            <a:ext cx="685800" cy="685800"/>
          </a:xfrm>
          <a:prstGeom prst="ellipse">
            <a:avLst/>
          </a:prstGeom>
          <a:solidFill>
            <a:srgbClr val="E85D4B"/>
          </a:solidFill>
          <a:ln/>
        </p:spPr>
      </p:sp>
      <p:pic>
        <p:nvPicPr>
          <p:cNvPr id="18" name="Image 2" descr="/home/claude/pptx/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505" y="2120265"/>
            <a:ext cx="377190" cy="3771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8116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MinIO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281160" y="230428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85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objet compatible S3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58200" y="278892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EEG volumineux et archivage long terme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4114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stockage selon la priorité (README du projet, cohérente avec les variables Docker)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452628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85D4B"/>
          </a:solidFill>
          <a:ln/>
        </p:spPr>
      </p:sp>
      <p:sp>
        <p:nvSpPr>
          <p:cNvPr id="24" name="Text 19"/>
          <p:cNvSpPr/>
          <p:nvPr/>
        </p:nvSpPr>
        <p:spPr>
          <a:xfrm>
            <a:off x="548640" y="4526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063240" y="4681728"/>
            <a:ext cx="411480" cy="182880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26" name="Text 21"/>
          <p:cNvSpPr/>
          <p:nvPr/>
        </p:nvSpPr>
        <p:spPr>
          <a:xfrm>
            <a:off x="3611880" y="4526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MongoDB + MinIO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48640" y="5148072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D9A441"/>
          </a:solidFill>
          <a:ln/>
        </p:spPr>
      </p:sp>
      <p:sp>
        <p:nvSpPr>
          <p:cNvPr id="28" name="Text 23"/>
          <p:cNvSpPr/>
          <p:nvPr/>
        </p:nvSpPr>
        <p:spPr>
          <a:xfrm>
            <a:off x="548640" y="51480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3063240" y="5303520"/>
            <a:ext cx="411480" cy="182880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30" name="Text 25"/>
          <p:cNvSpPr/>
          <p:nvPr/>
        </p:nvSpPr>
        <p:spPr>
          <a:xfrm>
            <a:off x="3611880" y="51480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MinIO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548640" y="5769864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0F6E8C"/>
          </a:solidFill>
          <a:ln/>
        </p:spPr>
      </p:sp>
      <p:sp>
        <p:nvSpPr>
          <p:cNvPr id="32" name="Text 27"/>
          <p:cNvSpPr/>
          <p:nvPr/>
        </p:nvSpPr>
        <p:spPr>
          <a:xfrm>
            <a:off x="548640" y="576986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 (&gt;24h)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3063240" y="5925312"/>
            <a:ext cx="411480" cy="182880"/>
          </a:xfrm>
          <a:prstGeom prst="rightArrow">
            <a:avLst/>
          </a:prstGeom>
          <a:solidFill>
            <a:srgbClr val="5A6472"/>
          </a:solidFill>
          <a:ln/>
        </p:spPr>
      </p:sp>
      <p:sp>
        <p:nvSpPr>
          <p:cNvPr id="34" name="Text 29"/>
          <p:cNvSpPr/>
          <p:nvPr/>
        </p:nvSpPr>
        <p:spPr>
          <a:xfrm>
            <a:off x="3611880" y="576986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(archivage)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Docker — 9 services orchestrés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09728" cy="105156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6537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2181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737360"/>
            <a:ext cx="109728" cy="105156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6537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267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9092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737360"/>
            <a:ext cx="109728" cy="105156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86537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267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27017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971800"/>
            <a:ext cx="109728" cy="105156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09981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5021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6379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29718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2971800"/>
            <a:ext cx="109728" cy="105156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309981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5021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9000/9001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29718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2971800"/>
            <a:ext cx="109728" cy="10515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309981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21040" y="35021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8000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206240"/>
            <a:ext cx="109728" cy="10515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3342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47365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5173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7680" y="42062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33" name="Shape 31"/>
          <p:cNvSpPr/>
          <p:nvPr/>
        </p:nvSpPr>
        <p:spPr>
          <a:xfrm>
            <a:off x="4297680" y="4206240"/>
            <a:ext cx="109728" cy="1051560"/>
          </a:xfrm>
          <a:prstGeom prst="rect">
            <a:avLst/>
          </a:prstGeom>
          <a:solidFill>
            <a:srgbClr val="E85D4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43342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 Python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0" y="47365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—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420624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37" name="Shape 35"/>
          <p:cNvSpPr/>
          <p:nvPr/>
        </p:nvSpPr>
        <p:spPr>
          <a:xfrm>
            <a:off x="8046720" y="4206240"/>
            <a:ext cx="109728" cy="1051560"/>
          </a:xfrm>
          <a:prstGeom prst="rect">
            <a:avLst/>
          </a:prstGeom>
          <a:solidFill>
            <a:srgbClr val="3FA7C7"/>
          </a:solidFill>
          <a:ln/>
        </p:spPr>
      </p:sp>
      <p:sp>
        <p:nvSpPr>
          <p:cNvPr id="38" name="Text 36"/>
          <p:cNvSpPr/>
          <p:nvPr/>
        </p:nvSpPr>
        <p:spPr>
          <a:xfrm>
            <a:off x="8321040" y="43342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persistants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321040" y="47365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 mongo_data · minio_data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6053328"/>
            <a:ext cx="128016" cy="128016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Vérifié dans docker-compose.yml : </a:t>
            </a:r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présence, configuration, ports, volumes et variables d'environnement. Le démarrage effectif et le fonctionnement applicatif n'ont pas été exécutés dans le cadre de cette analyse.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BOUT EN BOUT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 d'une donnée EEG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94560" y="1691640"/>
            <a:ext cx="7680960" cy="566928"/>
          </a:xfrm>
          <a:prstGeom prst="roundRect">
            <a:avLst>
              <a:gd name="adj" fmla="val 56452"/>
            </a:avLst>
          </a:prstGeom>
          <a:solidFill>
            <a:srgbClr val="0F6E8C"/>
          </a:solidFill>
          <a:ln/>
        </p:spPr>
      </p:sp>
      <p:sp>
        <p:nvSpPr>
          <p:cNvPr id="5" name="Text 3"/>
          <p:cNvSpPr/>
          <p:nvPr/>
        </p:nvSpPr>
        <p:spPr>
          <a:xfrm>
            <a:off x="2423160" y="16916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EEG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le signal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34456" y="2267712"/>
            <a:ext cx="201168" cy="114300"/>
          </a:xfrm>
          <a:prstGeom prst="downArrow">
            <a:avLst/>
          </a:prstGeom>
          <a:solidFill>
            <a:srgbClr val="5A6472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2391156"/>
            <a:ext cx="7680960" cy="566928"/>
          </a:xfrm>
          <a:prstGeom prst="roundRect">
            <a:avLst>
              <a:gd name="adj" fmla="val 56452"/>
            </a:avLst>
          </a:prstGeom>
          <a:solidFill>
            <a:srgbClr val="1E2A4A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239115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· eeg-raw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23911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du signal brut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34456" y="2967228"/>
            <a:ext cx="201168" cy="114300"/>
          </a:xfrm>
          <a:prstGeom prst="downArrow">
            <a:avLst/>
          </a:prstGeom>
          <a:solidFill>
            <a:srgbClr val="5A6472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4560" y="3090672"/>
            <a:ext cx="7680960" cy="566928"/>
          </a:xfrm>
          <a:prstGeom prst="roundRect">
            <a:avLst>
              <a:gd name="adj" fmla="val 56452"/>
            </a:avLst>
          </a:prstGeom>
          <a:solidFill>
            <a:srgbClr val="E85D4B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3090672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Analyse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30906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+ priorité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34456" y="3666744"/>
            <a:ext cx="201168" cy="114300"/>
          </a:xfrm>
          <a:prstGeom prst="downArrow">
            <a:avLst/>
          </a:prstGeom>
          <a:solidFill>
            <a:srgbClr val="5A6472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4560" y="3790188"/>
            <a:ext cx="7680960" cy="566928"/>
          </a:xfrm>
          <a:prstGeom prst="roundRect">
            <a:avLst>
              <a:gd name="adj" fmla="val 56452"/>
            </a:avLst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379018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· eeg-priority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379018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transmis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34456" y="4366260"/>
            <a:ext cx="201168" cy="114300"/>
          </a:xfrm>
          <a:prstGeom prst="downArrow">
            <a:avLst/>
          </a:prstGeom>
          <a:solidFill>
            <a:srgbClr val="5A6472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4560" y="4489704"/>
            <a:ext cx="7680960" cy="566928"/>
          </a:xfrm>
          <a:prstGeom prst="roundRect">
            <a:avLst>
              <a:gd name="adj" fmla="val 56452"/>
            </a:avLst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2423160" y="448970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Décision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0" y="448970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stockage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34456" y="5065776"/>
            <a:ext cx="201168" cy="114300"/>
          </a:xfrm>
          <a:prstGeom prst="downArrow">
            <a:avLst/>
          </a:prstGeom>
          <a:solidFill>
            <a:srgbClr val="5A6472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4560" y="5189220"/>
            <a:ext cx="7680960" cy="566928"/>
          </a:xfrm>
          <a:prstGeom prst="roundRect">
            <a:avLst>
              <a:gd name="adj" fmla="val 56452"/>
            </a:avLst>
          </a:prstGeom>
          <a:solidFill>
            <a:srgbClr val="3FA7C7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51892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MongoDB / MinIO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51892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selon priorité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34456" y="5765292"/>
            <a:ext cx="201168" cy="114300"/>
          </a:xfrm>
          <a:prstGeom prst="downArrow">
            <a:avLst/>
          </a:prstGeom>
          <a:solidFill>
            <a:srgbClr val="5A6472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4560" y="5888736"/>
            <a:ext cx="7680960" cy="566928"/>
          </a:xfrm>
          <a:prstGeom prst="roundRect">
            <a:avLst>
              <a:gd name="adj" fmla="val 56452"/>
            </a:avLst>
          </a:prstGeom>
          <a:solidFill>
            <a:srgbClr val="0F6E8C"/>
          </a:solidFill>
          <a:ln/>
        </p:spPr>
      </p:sp>
      <p:sp>
        <p:nvSpPr>
          <p:cNvPr id="29" name="Text 27"/>
          <p:cNvSpPr/>
          <p:nvPr/>
        </p:nvSpPr>
        <p:spPr>
          <a:xfrm>
            <a:off x="2423160" y="588873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Archivage (&gt;24h)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0" y="588873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vers MinIO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HONNÊTE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d'avancement du projet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9164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837944"/>
            <a:ext cx="146304" cy="146304"/>
          </a:xfrm>
          <a:prstGeom prst="ellipse">
            <a:avLst/>
          </a:prstGeom>
          <a:solidFill>
            <a:srgbClr val="2E9E6E"/>
          </a:solidFill>
          <a:ln/>
        </p:spPr>
      </p:sp>
      <p:sp>
        <p:nvSpPr>
          <p:cNvPr id="6" name="Text 3"/>
          <p:cNvSpPr/>
          <p:nvPr/>
        </p:nvSpPr>
        <p:spPr>
          <a:xfrm>
            <a:off x="530352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Docker (Kafka, Mongo, Redis, MinIO)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7844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0" y="2404872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2304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(Acquisition, Analyse, Décision, Archivage)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78440" y="23042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0" y="2971800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9"/>
          <p:cNvSpPr/>
          <p:nvPr/>
        </p:nvSpPr>
        <p:spPr>
          <a:xfrm>
            <a:off x="5303520" y="28712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378440" y="287121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3538728"/>
            <a:ext cx="146304" cy="146304"/>
          </a:xfrm>
          <a:prstGeom prst="ellipse">
            <a:avLst/>
          </a:prstGeom>
          <a:solidFill>
            <a:srgbClr val="E85D4B"/>
          </a:solidFill>
          <a:ln/>
        </p:spPr>
      </p:sp>
      <p:sp>
        <p:nvSpPr>
          <p:cNvPr id="15" name="Text 12"/>
          <p:cNvSpPr/>
          <p:nvPr/>
        </p:nvSpPr>
        <p:spPr>
          <a:xfrm>
            <a:off x="5303520" y="343814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EEG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378440" y="343814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5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vérifié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4105656"/>
            <a:ext cx="146304" cy="146304"/>
          </a:xfrm>
          <a:prstGeom prst="ellipse">
            <a:avLst/>
          </a:prstGeom>
          <a:solidFill>
            <a:srgbClr val="E85D4B"/>
          </a:solidFill>
          <a:ln/>
        </p:spPr>
      </p:sp>
      <p:sp>
        <p:nvSpPr>
          <p:cNvPr id="18" name="Text 15"/>
          <p:cNvSpPr/>
          <p:nvPr/>
        </p:nvSpPr>
        <p:spPr>
          <a:xfrm>
            <a:off x="5303520" y="40050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78440" y="40050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5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vérifié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0" y="4672584"/>
            <a:ext cx="146304" cy="146304"/>
          </a:xfrm>
          <a:prstGeom prst="ellipse">
            <a:avLst/>
          </a:prstGeom>
          <a:solidFill>
            <a:srgbClr val="E85D4B"/>
          </a:solidFill>
          <a:ln/>
        </p:spPr>
      </p:sp>
      <p:sp>
        <p:nvSpPr>
          <p:cNvPr id="21" name="Text 18"/>
          <p:cNvSpPr/>
          <p:nvPr/>
        </p:nvSpPr>
        <p:spPr>
          <a:xfrm>
            <a:off x="530352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complète (bout en bout)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378440" y="4572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5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vérifié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029200" y="5321808"/>
            <a:ext cx="6629400" cy="777240"/>
          </a:xfrm>
          <a:prstGeom prst="roundRect">
            <a:avLst>
              <a:gd name="adj" fmla="val 9412"/>
            </a:avLst>
          </a:prstGeom>
          <a:solidFill>
            <a:srgbClr val="F5F7FA"/>
          </a:solidFill>
          <a:ln/>
        </p:spPr>
      </p:sp>
      <p:sp>
        <p:nvSpPr>
          <p:cNvPr id="24" name="Text 21"/>
          <p:cNvSpPr/>
          <p:nvPr/>
        </p:nvSpPr>
        <p:spPr>
          <a:xfrm>
            <a:off x="5212080" y="5385816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de l'audit : l'infrastructure Big Data est solidement configurée ; la logique applicative (agents, API, frontend) reste à valider par du code exécutable.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 CRITIQUE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actuelles &amp; perspectives d'évolution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E85D4B"/>
          </a:solidFill>
          <a:ln/>
        </p:spPr>
      </p:sp>
      <p:pic>
        <p:nvPicPr>
          <p:cNvPr id="6" name="Image 0" descr="/home/claude/pptx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20436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9339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EEG réelle (simulation uniquement)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des agents / backend / frontend non audité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minimale : secrets en clair, pas de TLS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haute disponibilité (instances uniques)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monitoring applicatif (Prometheus/Grafana)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test automatisé fourni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440680" cy="4434840"/>
          </a:xfrm>
          <a:prstGeom prst="roundRect">
            <a:avLst>
              <a:gd name="adj" fmla="val 2062"/>
            </a:avLst>
          </a:prstGeom>
          <a:solidFill>
            <a:srgbClr val="1E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920240"/>
            <a:ext cx="548640" cy="548640"/>
          </a:xfrm>
          <a:prstGeom prst="ellipse">
            <a:avLst/>
          </a:prstGeom>
          <a:solidFill>
            <a:srgbClr val="3FA7C7"/>
          </a:solidFill>
          <a:ln/>
        </p:spPr>
      </p:sp>
      <p:pic>
        <p:nvPicPr>
          <p:cNvPr id="11" name="Image 1" descr="/home/claude/pptx/icons/rock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20436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99339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60604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 vrais capteurs EEG / jeux de données publics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l'authentification API et le chiffrement TLS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avec Prometheus &amp; Grafana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Kafka multi-broker avec réplication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vers Kubernetes (auto-scaling)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d'anomalies par Machine Learning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EEG Néonatal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4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394960"/>
            <a:ext cx="2743200" cy="2743200"/>
          </a:xfrm>
          <a:prstGeom prst="ellipse">
            <a:avLst/>
          </a:prstGeom>
          <a:solidFill>
            <a:srgbClr val="141D3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0F6E8C"/>
          </a:solidFill>
          <a:ln/>
        </p:spPr>
      </p:sp>
      <p:pic>
        <p:nvPicPr>
          <p:cNvPr id="5" name="Image 0" descr="/home/claude/pptx/icons/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246" y="77952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infrastructure Big Data solide, une logique applicative à démontrer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3172968"/>
            <a:ext cx="128016" cy="128016"/>
          </a:xfrm>
          <a:prstGeom prst="ellipse">
            <a:avLst/>
          </a:prstGeom>
          <a:solidFill>
            <a:srgbClr val="3FA7C7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0540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architecturale cohérente aux 3V du Big Data appliqués à l'EEG néonatal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739896"/>
            <a:ext cx="128016" cy="128016"/>
          </a:xfrm>
          <a:prstGeom prst="ellipse">
            <a:avLst/>
          </a:prstGeom>
          <a:solidFill>
            <a:srgbClr val="3FA7C7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6210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multi-agent découplé par Kafka, orienté vers une persistance polyglotte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4306824"/>
            <a:ext cx="128016" cy="128016"/>
          </a:xfrm>
          <a:prstGeom prst="ellipse">
            <a:avLst/>
          </a:prstGeom>
          <a:solidFill>
            <a:srgbClr val="3FA7C7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1879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infrastructure Docker complète et vérifiée (9 services orchestrés)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873752"/>
            <a:ext cx="128016" cy="128016"/>
          </a:xfrm>
          <a:prstGeom prst="ellipse">
            <a:avLst/>
          </a:prstGeom>
          <a:solidFill>
            <a:srgbClr val="3FA7C7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7548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logique applicative (agents, API, frontend) qui reste à valider par le code réel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12700">
            <a:solidFill>
              <a:srgbClr val="0F6E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5806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 — Questions ?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008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Nouar · Souhail El Bettachi · Mohamed Bakkouri · Youssef Benayad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2026-09-09T19:13:41Z</dcterms:created>
  <dcterms:modified xsi:type="dcterms:W3CDTF">2026-09-09T19:13:41Z</dcterms:modified>
</cp:coreProperties>
</file>